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60" r:id="rId4"/>
    <p:sldId id="258" r:id="rId5"/>
    <p:sldId id="259" r:id="rId6"/>
    <p:sldId id="265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24CD7-6B5A-49D7-8CB0-F79D9159E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1961E-C0B1-445A-9F7C-4EEA2F886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7252C-97F7-4592-900B-0DFB57E19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14/05/2026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3C3BF-3829-4186-AC82-1ADFAB13A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B67D8-A57E-4F44-B4CB-DBDFE405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289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87286-1509-4CAE-BAAE-FF3AE2F72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3E4B4-9C46-4936-B562-C8F183F33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3EA32-C8F5-490F-8581-11F13FC06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14/05/2026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ED85D-11F9-4A66-BFBF-B419D674E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46632-20B1-48FF-A42B-EFDB3D866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928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C0C3E-4DF1-4232-8425-A10B25640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41F71-0AA5-4F81-9BF7-206FADFD0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901CB-F97A-491E-9171-8362B25E4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14/05/2026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B3A10-8799-499D-9EBA-CB2B7257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31485-7BD4-4817-BA61-C735B45E5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6951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DE54-C2E2-456B-9BE0-DE732FABB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99340-A9A6-4791-9E64-61CE80EA8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AE0BE-6F83-4F8F-8BF0-2B4CB6C3D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E2E8E-03AD-49CE-9EC2-88E000901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14/05/2026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A35AA-40B6-4D61-8B58-9D3AE074A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1BEBD-F03B-4247-82BE-DAF0F450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4713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0A95-D8E4-48AD-B69E-29C5CD609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73BEB-6316-439D-A358-150CCD153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252CF-B25A-4F54-B5C0-A2066A90D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685C30-9C77-4404-8AD6-C7932DCE7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928507-E8F1-4EEF-93F1-BDDEFCE0D1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F1849A-3EA7-4790-9475-F903FB4D1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14/05/2026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5CDDCB-8F34-4690-ACD8-20277A6E7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9B915-E679-41CE-8F10-39B48F8C8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9405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ED04B-5046-4D92-93F0-731B458AE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87838-D9AF-417A-9B4C-79F312F11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14/05/2026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CE097-EDF5-4011-A4D7-CD227FD14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3A3BA7-6456-4A19-8EC4-746169B1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00850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CA46BF-4054-438F-B01F-20F5CADFA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14/05/2026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7C9487-308B-4CCD-8B0C-599461ED1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B15AC-B0E9-48E4-AFEA-8C3B3D724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5349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28661-56D3-4F89-A091-9144FEE09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90B3F-2D08-4FC6-8420-CDDA51471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9C224-946F-4C84-9F19-24F7A9635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6EF3B-F7E0-4E71-96F2-4202459D3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14/05/2026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4B28E-ABAC-4EE4-BC33-03B282707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B5F73-95D1-4F2C-99FF-C64F82180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1192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B1480-90FD-4EDA-A61A-384BE0FB4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941672-20E0-47F4-97EB-F25466B5B5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ADD92-03CF-43AF-B6D0-FF8DD9EED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10847-FC25-413D-A80F-A00BE049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14/05/2026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2E7EC-7039-4572-B017-692CECD09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AD70B-2DE1-4833-BF11-A8FBC97F8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8290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2383F-A901-4226-88D9-CDC23FF20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7EF267-8DB2-4146-9613-43F81673F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5FFE-F73A-46A2-9465-39C2747E8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14/05/2026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7C5D3-EC7A-4358-82CB-FF9E7332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8D057-ADF8-48EC-B964-F78A2603C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816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7A7DA9-4E3A-4BAC-934A-20743DE90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C3405-E01C-4637-9EBD-4BDD1DB415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E12B6-A4CE-4722-8DFC-51944F8E9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5A98-7316-42E9-83DE-B54FE95323BE}" type="datetimeFigureOut">
              <a:rPr lang="en-ID" smtClean="0"/>
              <a:t>14/05/2026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5C493-BBE5-4058-84A8-0CCC9BD3B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6B0B7-F450-43AE-B5DA-1F88E90EF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292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F48C9A-56CC-4C82-AF91-EFC4DA0D7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7C519-BEBB-4590-8A2D-9D8346E57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23B97-7714-4108-A93C-CD08C7F492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75A98-7316-42E9-83DE-B54FE95323BE}" type="datetimeFigureOut">
              <a:rPr lang="en-ID" smtClean="0"/>
              <a:t>14/05/2026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F6556-C5A0-4DE4-BADB-8B8632553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DC9FB-A1D2-4CCD-B313-F37EAA300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33C27-803E-40F4-B8F9-D385846CF4D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3243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8A67F8-29CF-4380-85B7-69B355767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25" y="286603"/>
            <a:ext cx="11753849" cy="1450757"/>
          </a:xfrm>
        </p:spPr>
        <p:txBody>
          <a:bodyPr/>
          <a:lstStyle/>
          <a:p>
            <a:pPr algn="ctr"/>
            <a:r>
              <a:rPr lang="en-US" b="1" dirty="0"/>
              <a:t>“Evaluation of </a:t>
            </a:r>
            <a:r>
              <a:rPr lang="en-US" b="1" dirty="0" err="1"/>
              <a:t>Magist</a:t>
            </a:r>
            <a:r>
              <a:rPr lang="en-US" b="1" dirty="0"/>
              <a:t> for ENIAC Partnership”</a:t>
            </a:r>
            <a:endParaRPr lang="en-ID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E77C06-5FD6-4003-8BA5-8588EB868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49" y="2085601"/>
            <a:ext cx="10515600" cy="4942728"/>
          </a:xfrm>
        </p:spPr>
        <p:txBody>
          <a:bodyPr>
            <a:normAutofit fontScale="32500" lnSpcReduction="20000"/>
          </a:bodyPr>
          <a:lstStyle/>
          <a:p>
            <a:r>
              <a:rPr lang="en-US" sz="6000" dirty="0"/>
              <a:t>Is </a:t>
            </a:r>
            <a:r>
              <a:rPr lang="en-US" sz="6000" dirty="0" err="1"/>
              <a:t>Magist</a:t>
            </a:r>
            <a:r>
              <a:rPr lang="en-US" sz="6000" dirty="0"/>
              <a:t> a suitable partner for </a:t>
            </a:r>
            <a:r>
              <a:rPr lang="en-US" sz="6000" dirty="0" err="1"/>
              <a:t>Eniac</a:t>
            </a:r>
            <a:r>
              <a:rPr lang="en-US" sz="6000" dirty="0"/>
              <a:t>?</a:t>
            </a:r>
          </a:p>
          <a:p>
            <a:r>
              <a:rPr lang="en-US" sz="6000" dirty="0"/>
              <a:t>How reliable is </a:t>
            </a:r>
            <a:r>
              <a:rPr lang="en-US" sz="6000" dirty="0" err="1"/>
              <a:t>Magist’s</a:t>
            </a:r>
            <a:r>
              <a:rPr lang="en-US" sz="6000" dirty="0"/>
              <a:t> delivery On-Time?</a:t>
            </a:r>
          </a:p>
          <a:p>
            <a:pPr marL="457200" lvl="1" indent="0">
              <a:buNone/>
            </a:pPr>
            <a:endParaRPr lang="en-US" sz="6000" dirty="0"/>
          </a:p>
          <a:p>
            <a:pPr marL="457200" lvl="1" indent="0">
              <a:buNone/>
            </a:pPr>
            <a:endParaRPr lang="en-US" sz="6000" dirty="0"/>
          </a:p>
          <a:p>
            <a:pPr marL="0" indent="0">
              <a:buNone/>
            </a:pPr>
            <a:r>
              <a:rPr lang="en-US" sz="8600" b="1" u="sng" dirty="0"/>
              <a:t>Objective: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6000" dirty="0"/>
              <a:t>Analyze Product Performance </a:t>
            </a:r>
          </a:p>
          <a:p>
            <a:r>
              <a:rPr lang="en-US" sz="6000" dirty="0"/>
              <a:t>Evaluate seller strength</a:t>
            </a:r>
          </a:p>
          <a:p>
            <a:r>
              <a:rPr lang="en-US" sz="6000" dirty="0"/>
              <a:t>Assess delivery reliability</a:t>
            </a:r>
          </a:p>
          <a:p>
            <a:r>
              <a:rPr lang="en-US" sz="6000" dirty="0"/>
              <a:t>Analyze customer satisfaction        </a:t>
            </a:r>
          </a:p>
          <a:p>
            <a:r>
              <a:rPr lang="en-US" sz="6000" dirty="0"/>
              <a:t>Geographical Performance by Region(Brazil)</a:t>
            </a:r>
          </a:p>
          <a:p>
            <a:pPr marL="0" indent="0">
              <a:buNone/>
            </a:pPr>
            <a:r>
              <a:rPr lang="en-US" sz="6000" dirty="0"/>
              <a:t>                                                                               </a:t>
            </a:r>
          </a:p>
          <a:p>
            <a:pPr marL="0" indent="0">
              <a:buNone/>
            </a:pPr>
            <a:endParaRPr lang="en-US" sz="6000" dirty="0"/>
          </a:p>
          <a:p>
            <a:pPr marL="0" indent="0">
              <a:buNone/>
            </a:pPr>
            <a:r>
              <a:rPr lang="en-US" sz="6000" dirty="0"/>
              <a:t>                                                                                                                                 </a:t>
            </a:r>
            <a:endParaRPr lang="en-ID" sz="6000" dirty="0"/>
          </a:p>
        </p:txBody>
      </p:sp>
    </p:spTree>
    <p:extLst>
      <p:ext uri="{BB962C8B-B14F-4D97-AF65-F5344CB8AC3E}">
        <p14:creationId xmlns:p14="http://schemas.microsoft.com/office/powerpoint/2010/main" val="1562881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2BCF0E9-7D4B-4497-88D7-56AA50E54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177" y="1557336"/>
            <a:ext cx="2943317" cy="461122"/>
          </a:xfrm>
        </p:spPr>
        <p:txBody>
          <a:bodyPr/>
          <a:lstStyle/>
          <a:p>
            <a:r>
              <a:rPr lang="en-US" u="sng" dirty="0"/>
              <a:t>Product Sold</a:t>
            </a:r>
            <a:endParaRPr lang="en-ID" u="sng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63C7DA-871C-453E-8923-1C59BC670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207700" y="1575265"/>
            <a:ext cx="5183188" cy="443193"/>
          </a:xfrm>
        </p:spPr>
        <p:txBody>
          <a:bodyPr/>
          <a:lstStyle/>
          <a:p>
            <a:r>
              <a:rPr lang="en-US" u="sng" dirty="0"/>
              <a:t>Revenue</a:t>
            </a:r>
            <a:endParaRPr lang="en-ID" u="sng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9F99E4-AA92-4BED-87CA-FBD11A0C50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06587" y="4374776"/>
            <a:ext cx="8785414" cy="1676400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endParaRPr lang="en-ID" dirty="0"/>
          </a:p>
          <a:p>
            <a:endParaRPr lang="en-ID" dirty="0"/>
          </a:p>
          <a:p>
            <a:endParaRPr lang="en-ID" sz="4400" b="1" dirty="0"/>
          </a:p>
          <a:p>
            <a:endParaRPr lang="en-ID" sz="4400" b="1" dirty="0"/>
          </a:p>
          <a:p>
            <a:r>
              <a:rPr lang="en-ID" sz="9600" dirty="0"/>
              <a:t>Non-Tech products dominate sales  and revenue .</a:t>
            </a:r>
          </a:p>
          <a:p>
            <a:r>
              <a:rPr lang="en-ID" sz="9600" dirty="0"/>
              <a:t>Tech products show weak demand.</a:t>
            </a:r>
          </a:p>
          <a:p>
            <a:r>
              <a:rPr lang="en-ID" sz="9600" dirty="0"/>
              <a:t>Risk for </a:t>
            </a:r>
            <a:r>
              <a:rPr lang="en-ID" sz="9600" dirty="0" err="1"/>
              <a:t>Eniac</a:t>
            </a:r>
            <a:r>
              <a:rPr lang="en-ID" sz="9600" dirty="0"/>
              <a:t> core category.</a:t>
            </a:r>
          </a:p>
          <a:p>
            <a:endParaRPr lang="en-ID" sz="2400" b="1" dirty="0"/>
          </a:p>
        </p:txBody>
      </p:sp>
      <p:sp>
        <p:nvSpPr>
          <p:cNvPr id="12" name="Title 8">
            <a:extLst>
              <a:ext uri="{FF2B5EF4-FFF2-40B4-BE49-F238E27FC236}">
                <a16:creationId xmlns:a16="http://schemas.microsoft.com/office/drawing/2014/main" id="{953D5FE4-10E7-4127-ACBF-0EFD92CE0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78" y="603628"/>
            <a:ext cx="10141976" cy="461123"/>
          </a:xfrm>
        </p:spPr>
        <p:txBody>
          <a:bodyPr>
            <a:normAutofit fontScale="90000"/>
          </a:bodyPr>
          <a:lstStyle/>
          <a:p>
            <a:b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Product Performance </a:t>
            </a:r>
            <a:b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800" b="1" dirty="0"/>
              <a:t>        </a:t>
            </a:r>
            <a:br>
              <a:rPr lang="en-US" sz="2800" b="1" dirty="0"/>
            </a:br>
            <a:r>
              <a:rPr lang="en-US" sz="2800" b="1" dirty="0"/>
              <a:t>                                      </a:t>
            </a:r>
            <a:r>
              <a:rPr lang="en-US" sz="3100" b="1" dirty="0"/>
              <a:t>“ How are products performing? ”</a:t>
            </a:r>
            <a:br>
              <a:rPr lang="en-US" sz="3100" b="1" u="sng" dirty="0"/>
            </a:br>
            <a:r>
              <a:rPr lang="en-US" sz="2800" b="1" dirty="0"/>
              <a:t>                            </a:t>
            </a:r>
            <a:endParaRPr lang="en-ID" sz="31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10423C-BB31-49B5-B7C6-97C818FE7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48" y="2207373"/>
            <a:ext cx="2644369" cy="45032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FCAECA-0219-4DEF-B396-1CE6DE66B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494" y="2207373"/>
            <a:ext cx="8048263" cy="296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887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D9EA34-F316-47F5-B63D-5B07ACB4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506" y="358587"/>
            <a:ext cx="10829364" cy="1038817"/>
          </a:xfrm>
        </p:spPr>
        <p:txBody>
          <a:bodyPr>
            <a:normAutofit fontScale="90000"/>
          </a:bodyPr>
          <a:lstStyle/>
          <a:p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seller strength</a:t>
            </a:r>
            <a:b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/>
            </a:br>
            <a:r>
              <a:rPr lang="en-US" sz="3100" b="1" dirty="0"/>
              <a:t>                                 “ Is the seller base strong enough?”</a:t>
            </a:r>
            <a:endParaRPr lang="en-ID" sz="3100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4E9CAB7-B065-4DE4-86AA-9730EBB65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023" y="3711107"/>
            <a:ext cx="6233938" cy="2420752"/>
          </a:xfrm>
        </p:spPr>
        <p:txBody>
          <a:bodyPr/>
          <a:lstStyle/>
          <a:p>
            <a:r>
              <a:rPr lang="en-US" sz="2400" dirty="0"/>
              <a:t>Limited product availability. </a:t>
            </a:r>
          </a:p>
          <a:p>
            <a:r>
              <a:rPr lang="en-US" sz="2400" dirty="0"/>
              <a:t>Higher dependency on few sellers –</a:t>
            </a:r>
          </a:p>
          <a:p>
            <a:pPr marL="0" indent="0">
              <a:buNone/>
            </a:pPr>
            <a:r>
              <a:rPr lang="en-US" sz="2400" dirty="0"/>
              <a:t>     supply risk.</a:t>
            </a:r>
          </a:p>
          <a:p>
            <a:r>
              <a:rPr lang="en-US" sz="2400" dirty="0"/>
              <a:t>Hard to grow business without strong seller base.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2A6378-F45B-4CCD-9198-D21A3D7E5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95" y="1397405"/>
            <a:ext cx="3193418" cy="6083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976B83-3868-41AC-8262-B91545FA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84" y="2005729"/>
            <a:ext cx="3370729" cy="46853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9EE87E-869A-4E04-B918-7ABB324AF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048" y="1927413"/>
            <a:ext cx="4240306" cy="103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218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BFD7A-E970-43E4-9BFC-81E9F879E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51011"/>
            <a:ext cx="10515600" cy="1439677"/>
          </a:xfrm>
        </p:spPr>
        <p:txBody>
          <a:bodyPr>
            <a:normAutofit fontScale="90000"/>
          </a:bodyPr>
          <a:lstStyle/>
          <a:p>
            <a:br>
              <a:rPr lang="en-US" sz="2400" dirty="0"/>
            </a:b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delivery reliability</a:t>
            </a:r>
            <a:br>
              <a:rPr lang="en-US" sz="2400" dirty="0"/>
            </a:br>
            <a:r>
              <a:rPr lang="en-US" sz="2400" dirty="0"/>
              <a:t>                                  </a:t>
            </a:r>
            <a:br>
              <a:rPr lang="en-US" sz="2400" dirty="0"/>
            </a:br>
            <a:r>
              <a:rPr lang="en-US" sz="2400" dirty="0"/>
              <a:t>                                    </a:t>
            </a:r>
            <a:r>
              <a:rPr lang="en-US" sz="3100" b="1" dirty="0"/>
              <a:t>“ How reliable is delivery performance? “</a:t>
            </a:r>
            <a:endParaRPr lang="en-ID" sz="3100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28A3D5-3EFE-43F3-945D-F36CA3F41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50259" y="3971365"/>
            <a:ext cx="11241741" cy="2572869"/>
          </a:xfrm>
        </p:spPr>
        <p:txBody>
          <a:bodyPr>
            <a:normAutofit lnSpcReduction="10000"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Majority of orders are delivered </a:t>
            </a:r>
            <a:r>
              <a:rPr lang="en-US" sz="2400" b="1" dirty="0"/>
              <a:t>On-Time </a:t>
            </a:r>
            <a:r>
              <a:rPr lang="en-US" sz="2400" dirty="0"/>
              <a:t>.</a:t>
            </a:r>
          </a:p>
          <a:p>
            <a:r>
              <a:rPr lang="en-US" sz="2400" dirty="0"/>
              <a:t>The delay rate is relatively low.</a:t>
            </a:r>
          </a:p>
          <a:p>
            <a:r>
              <a:rPr lang="en-US" sz="2400" dirty="0"/>
              <a:t>Unknown delivery indicates missing or incomplete tracking data.</a:t>
            </a:r>
          </a:p>
          <a:p>
            <a:r>
              <a:rPr lang="en-US" sz="2400" dirty="0"/>
              <a:t>This indicates that </a:t>
            </a:r>
            <a:r>
              <a:rPr lang="en-US" sz="2400" dirty="0" err="1"/>
              <a:t>Magist</a:t>
            </a:r>
            <a:r>
              <a:rPr lang="en-US" sz="2400" dirty="0"/>
              <a:t> has reliable logistics and delivery performance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17EFF9-7C51-436E-A0EC-50C9B4B96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258" y="2008093"/>
            <a:ext cx="10405129" cy="263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717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54965-E7CD-415D-BD97-87F597316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459099"/>
          </a:xfrm>
        </p:spPr>
        <p:txBody>
          <a:bodyPr>
            <a:normAutofit fontScale="90000"/>
          </a:bodyPr>
          <a:lstStyle/>
          <a:p>
            <a:br>
              <a:rPr lang="en-US" sz="2400" b="1" dirty="0"/>
            </a:b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customer satisfaction        </a:t>
            </a:r>
            <a:br>
              <a:rPr lang="en-US" sz="2400" dirty="0"/>
            </a:br>
            <a:r>
              <a:rPr lang="en-US" sz="2400" dirty="0"/>
              <a:t>                                                </a:t>
            </a:r>
            <a:br>
              <a:rPr lang="en-US" sz="2400" dirty="0"/>
            </a:br>
            <a:r>
              <a:rPr lang="en-US" sz="3100" dirty="0"/>
              <a:t>                           </a:t>
            </a:r>
            <a:r>
              <a:rPr lang="en-US" sz="3100" b="1" dirty="0"/>
              <a:t>“ Are customers satisfied with products? “</a:t>
            </a:r>
            <a:endParaRPr lang="en-ID" sz="3100" b="1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85214B17-C5D0-479E-85AF-61B574AEC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128" y="4769224"/>
            <a:ext cx="11564471" cy="2088775"/>
          </a:xfrm>
        </p:spPr>
        <p:txBody>
          <a:bodyPr>
            <a:normAutofit/>
          </a:bodyPr>
          <a:lstStyle/>
          <a:p>
            <a:r>
              <a:rPr lang="en-US" sz="2400" dirty="0"/>
              <a:t>Non-Tech products get more reviews compared to Tech products.</a:t>
            </a:r>
          </a:p>
          <a:p>
            <a:r>
              <a:rPr lang="en-US" sz="2400" dirty="0"/>
              <a:t>Tech products have fewer customer responses or feedback.</a:t>
            </a:r>
          </a:p>
          <a:p>
            <a:r>
              <a:rPr lang="en-ID" sz="2400" dirty="0"/>
              <a:t>Fewer purchases compared to Non-Tech products.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726375-03A3-4F2F-A986-D78D0A252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6753"/>
            <a:ext cx="10287000" cy="294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03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DBA4E-FBEE-4703-A192-E63D1E308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918" y="246343"/>
            <a:ext cx="10515600" cy="1021977"/>
          </a:xfrm>
        </p:spPr>
        <p:txBody>
          <a:bodyPr>
            <a:normAutofit fontScale="90000"/>
          </a:bodyPr>
          <a:lstStyle/>
          <a:p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Performance by Region(Brazil)</a:t>
            </a:r>
            <a:b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3100" b="1" dirty="0"/>
              <a:t>“ Which regions drive the most sales and On-Time delivery? ”</a:t>
            </a:r>
            <a:endParaRPr lang="en-ID" sz="31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6E7133-25CA-4709-AA41-D2901B2D4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838" y="3925465"/>
            <a:ext cx="11942324" cy="2860816"/>
          </a:xfrm>
        </p:spPr>
        <p:txBody>
          <a:bodyPr>
            <a:normAutofit fontScale="25000" lnSpcReduction="20000"/>
          </a:bodyPr>
          <a:lstStyle/>
          <a:p>
            <a:endParaRPr lang="en-US" sz="2400" dirty="0"/>
          </a:p>
          <a:p>
            <a:endParaRPr lang="en-US" sz="2400" dirty="0"/>
          </a:p>
          <a:p>
            <a:endParaRPr lang="en-US" sz="9600" dirty="0"/>
          </a:p>
          <a:p>
            <a:r>
              <a:rPr lang="en-US" sz="8000" dirty="0"/>
              <a:t>Sales performance varies significantly across Brazilian states.</a:t>
            </a:r>
          </a:p>
          <a:p>
            <a:r>
              <a:rPr lang="en-US" sz="8000" dirty="0"/>
              <a:t>The majority of sales are concentrated in the top three states: São Paulo (SP), Minas Gerais (MG), and Rio de Janeiro (RJ).</a:t>
            </a:r>
          </a:p>
          <a:p>
            <a:r>
              <a:rPr lang="en-US" sz="8000" dirty="0"/>
              <a:t>On-time delivery performance follows a similar geographic pattern, with the highest efficiency concentrated in the Southeast.</a:t>
            </a:r>
          </a:p>
          <a:p>
            <a:r>
              <a:rPr lang="en-US" sz="8000" dirty="0"/>
              <a:t>Both revenue and delivery metrics are strongest in the Southern and Southeastern regions (SP, MG, RJ, PR, and RS).   </a:t>
            </a:r>
            <a:endParaRPr lang="en-ID" sz="8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AAA4B0-75EB-4CDE-9463-62DF345BF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336" y="2059010"/>
            <a:ext cx="3993463" cy="25219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D17E44-A25B-4F2D-96AD-B2622F45F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18" y="2059011"/>
            <a:ext cx="4268364" cy="252195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1AE46DC-0E6D-4DAF-A0E8-08CD3FFA7290}"/>
              </a:ext>
            </a:extLst>
          </p:cNvPr>
          <p:cNvSpPr txBox="1"/>
          <p:nvPr/>
        </p:nvSpPr>
        <p:spPr>
          <a:xfrm>
            <a:off x="735106" y="1554488"/>
            <a:ext cx="385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 Revenue States</a:t>
            </a:r>
            <a:endParaRPr lang="en-ID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8E2A22-0995-4F3C-9459-40C9C2F2F130}"/>
              </a:ext>
            </a:extLst>
          </p:cNvPr>
          <p:cNvSpPr txBox="1"/>
          <p:nvPr/>
        </p:nvSpPr>
        <p:spPr>
          <a:xfrm>
            <a:off x="7360336" y="1554488"/>
            <a:ext cx="348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 On-Time Delivery States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3338103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E198EE-4FA0-4B4A-B0CE-0F90F87DB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586752"/>
          </a:xfrm>
        </p:spPr>
        <p:txBody>
          <a:bodyPr/>
          <a:lstStyle/>
          <a:p>
            <a:pPr algn="ctr"/>
            <a:r>
              <a:rPr lang="en-US" b="1" u="sng" dirty="0"/>
              <a:t>Conclusion</a:t>
            </a:r>
            <a:endParaRPr lang="en-ID" b="1" u="sn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CAF8AA-C8D5-4770-BD4E-F788BD13F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0520"/>
            <a:ext cx="10515600" cy="4351338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Even though delivery performance on </a:t>
            </a:r>
            <a:r>
              <a:rPr lang="en-US" sz="2400" dirty="0" err="1"/>
              <a:t>Magist</a:t>
            </a:r>
            <a:r>
              <a:rPr lang="en-US" sz="2400" dirty="0"/>
              <a:t> is reliable, Tech products contribute only a small portion of Total revenue.</a:t>
            </a:r>
          </a:p>
          <a:p>
            <a:r>
              <a:rPr lang="en-US" sz="2400" dirty="0"/>
              <a:t>Limited market presence.</a:t>
            </a:r>
          </a:p>
          <a:p>
            <a:r>
              <a:rPr lang="en-US" sz="2400" dirty="0"/>
              <a:t>Indicates that </a:t>
            </a:r>
            <a:r>
              <a:rPr lang="en-US" sz="2400" dirty="0" err="1"/>
              <a:t>Magist</a:t>
            </a:r>
            <a:r>
              <a:rPr lang="en-US" sz="2400" dirty="0"/>
              <a:t> is not currently an Ideal platform for </a:t>
            </a:r>
            <a:r>
              <a:rPr lang="en-US" sz="2400" dirty="0" err="1"/>
              <a:t>Eniac’s</a:t>
            </a:r>
            <a:r>
              <a:rPr lang="en-US" sz="2400" dirty="0"/>
              <a:t> High-end    Tech-products.</a:t>
            </a:r>
          </a:p>
          <a:p>
            <a:r>
              <a:rPr lang="en-US" sz="2400" dirty="0"/>
              <a:t>Therefore, we do not recommend a full-scale partnership.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421939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1037</TotalTime>
  <Words>372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“Evaluation of Magist for ENIAC Partnership”</vt:lpstr>
      <vt:lpstr> Analyze Product Performance                                                                              “ How are products performing? ”                             </vt:lpstr>
      <vt:lpstr>Evaluate seller strength                                   “ Is the seller base strong enough?”</vt:lpstr>
      <vt:lpstr> Assess delivery reliability                                                                        “ How reliable is delivery performance? “</vt:lpstr>
      <vt:lpstr> Analyze customer satisfaction                                                                                     “ Are customers satisfied with products? “</vt:lpstr>
      <vt:lpstr>Geographical Performance by Region(Brazil)           “ Which regions drive the most sales and On-Time delivery? ”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manikandan Mohanakrishnan</dc:creator>
  <cp:lastModifiedBy>manikandan Mohanakrishnan</cp:lastModifiedBy>
  <cp:revision>83</cp:revision>
  <dcterms:created xsi:type="dcterms:W3CDTF">2026-04-10T18:08:58Z</dcterms:created>
  <dcterms:modified xsi:type="dcterms:W3CDTF">2026-05-14T16:20:36Z</dcterms:modified>
</cp:coreProperties>
</file>